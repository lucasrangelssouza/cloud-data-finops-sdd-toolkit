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title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011680"/>
            <a:ext cx="11094415" cy="1097280"/>
          </a:xfrm>
        </p:spPr>
        <p:txBody>
          <a:bodyPr lIns="45720" wrap="square" anchor="ctr">
            <a:no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Synthetic cloud data FinOps assessment</a:t>
            </a:r>
          </a:p>
        </p:txBody>
      </p:sp>
      <p:sp>
        <p:nvSpPr>
          <p:cNvPr id="3" name="Accent"/>
          <p:cNvSpPr/>
          <p:nvPr/>
        </p:nvSpPr>
        <p:spPr>
          <a:xfrm>
            <a:off x="548640" y="320040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ubtitle"/>
          <p:cNvSpPr txBox="1"/>
          <p:nvPr/>
        </p:nvSpPr>
        <p:spPr>
          <a:xfrm>
            <a:off x="548640" y="3429000"/>
            <a:ext cx="11094415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Assessment demo-2026-09 · 2026-08-02 to 2026-08-31 · GCP and AWS</a:t>
            </a:r>
          </a:p>
          <a:p>
            <a:pPr>
              <a:spcAft>
                <a:spcPts val="720"/>
              </a:spcAft>
            </a:pPr>
            <a:r>
              <a:rPr sz="1600" b="1">
                <a:solidFill>
                  <a:srgbClr val="22D3EE"/>
                </a:solidFill>
                <a:latin typeface="Calibri"/>
              </a:rPr>
              <a:t>Synthetic fixture data. Nothing here describes a real environment, bill, or saving.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executive-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731520"/>
          </a:xfrm>
        </p:spPr>
        <p:txBody>
          <a:bodyPr lIns="45720" wrap="square" anchor="ctr">
            <a:no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Accent"/>
          <p:cNvSpPr/>
          <p:nvPr/>
        </p:nvSpPr>
        <p:spPr>
          <a:xfrm>
            <a:off x="548640" y="1078992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le Findings" descr="Findings: 11"/>
          <p:cNvSpPr/>
          <p:nvPr/>
        </p:nvSpPr>
        <p:spPr>
          <a:xfrm>
            <a:off x="548640" y="1417320"/>
            <a:ext cx="2926080" cy="1005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le marker Findings"/>
          <p:cNvSpPr/>
          <p:nvPr/>
        </p:nvSpPr>
        <p:spPr>
          <a:xfrm>
            <a:off x="548640" y="1417320"/>
            <a:ext cx="82296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ile text Findings"/>
          <p:cNvSpPr txBox="1"/>
          <p:nvPr/>
        </p:nvSpPr>
        <p:spPr>
          <a:xfrm>
            <a:off x="822960" y="1453896"/>
            <a:ext cx="2560320" cy="932688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11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475569"/>
                </a:solidFill>
                <a:latin typeface="Calibri"/>
              </a:rPr>
              <a:t>Findings in total</a:t>
            </a:r>
          </a:p>
        </p:txBody>
      </p:sp>
      <p:sp>
        <p:nvSpPr>
          <p:cNvPr id="7" name="Tile High" descr="High: 5"/>
          <p:cNvSpPr/>
          <p:nvPr/>
        </p:nvSpPr>
        <p:spPr>
          <a:xfrm>
            <a:off x="548640" y="2606040"/>
            <a:ext cx="2926080" cy="1005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ile marker High"/>
          <p:cNvSpPr/>
          <p:nvPr/>
        </p:nvSpPr>
        <p:spPr>
          <a:xfrm>
            <a:off x="548640" y="2606040"/>
            <a:ext cx="82296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ile text High"/>
          <p:cNvSpPr txBox="1"/>
          <p:nvPr/>
        </p:nvSpPr>
        <p:spPr>
          <a:xfrm>
            <a:off x="822960" y="2642616"/>
            <a:ext cx="2560320" cy="932688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5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475569"/>
                </a:solidFill>
                <a:latin typeface="Calibri"/>
              </a:rPr>
              <a:t>High priority</a:t>
            </a:r>
          </a:p>
        </p:txBody>
      </p:sp>
      <p:sp>
        <p:nvSpPr>
          <p:cNvPr id="10" name="Tile Medium" descr="Medium: 4"/>
          <p:cNvSpPr/>
          <p:nvPr/>
        </p:nvSpPr>
        <p:spPr>
          <a:xfrm>
            <a:off x="548640" y="3794760"/>
            <a:ext cx="2926080" cy="1005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ile marker Medium"/>
          <p:cNvSpPr/>
          <p:nvPr/>
        </p:nvSpPr>
        <p:spPr>
          <a:xfrm>
            <a:off x="548640" y="3794760"/>
            <a:ext cx="82296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ile text Medium"/>
          <p:cNvSpPr txBox="1"/>
          <p:nvPr/>
        </p:nvSpPr>
        <p:spPr>
          <a:xfrm>
            <a:off x="822960" y="3831336"/>
            <a:ext cx="2560320" cy="932688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4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475569"/>
                </a:solidFill>
                <a:latin typeface="Calibri"/>
              </a:rPr>
              <a:t>Medium priority</a:t>
            </a:r>
          </a:p>
        </p:txBody>
      </p:sp>
      <p:sp>
        <p:nvSpPr>
          <p:cNvPr id="13" name="Tile Low" descr="Low: 2"/>
          <p:cNvSpPr/>
          <p:nvPr/>
        </p:nvSpPr>
        <p:spPr>
          <a:xfrm>
            <a:off x="548640" y="4983480"/>
            <a:ext cx="2926080" cy="1005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ile marker Low"/>
          <p:cNvSpPr/>
          <p:nvPr/>
        </p:nvSpPr>
        <p:spPr>
          <a:xfrm>
            <a:off x="548640" y="4983480"/>
            <a:ext cx="82296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ile text Low"/>
          <p:cNvSpPr txBox="1"/>
          <p:nvPr/>
        </p:nvSpPr>
        <p:spPr>
          <a:xfrm>
            <a:off x="822960" y="5020056"/>
            <a:ext cx="2560320" cy="932688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2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475569"/>
                </a:solidFill>
                <a:latin typeface="Calibri"/>
              </a:rPr>
              <a:t>Low priority</a:t>
            </a:r>
          </a:p>
        </p:txBody>
      </p:sp>
      <p:sp>
        <p:nvSpPr>
          <p:cNvPr id="16" name="Key messages"/>
          <p:cNvSpPr txBox="1"/>
          <p:nvPr/>
        </p:nvSpPr>
        <p:spPr>
          <a:xfrm>
            <a:off x="3931920" y="1417320"/>
            <a:ext cx="7680960" cy="457200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GCP: 6 findings. The largest job billed 3.0 TB without partition pruning.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AWS: 5 findings. Amazon Athena / us-east-1 rose USD 700 above its baseline.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4 of 11 findings carry an upper-bound estimate in TB, slot-hours, or USD; none is a saving.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No commitment purchase is recommended: the commitment evidence is incomplete.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45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Synthetic fixture data · demo-2026-09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ost-driver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731520"/>
          </a:xfrm>
        </p:spPr>
        <p:txBody>
          <a:bodyPr lIns="45720" wrap="square" anchor="ctr">
            <a:no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Cost drivers by provider</a:t>
            </a:r>
          </a:p>
        </p:txBody>
      </p:sp>
      <p:sp>
        <p:nvSpPr>
          <p:cNvPr id="3" name="Accent"/>
          <p:cNvSpPr/>
          <p:nvPr/>
        </p:nvSpPr>
        <p:spPr>
          <a:xfrm>
            <a:off x="548640" y="1078992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GCP heading"/>
          <p:cNvSpPr txBox="1"/>
          <p:nvPr/>
        </p:nvSpPr>
        <p:spPr>
          <a:xfrm>
            <a:off x="548640" y="1325880"/>
            <a:ext cx="5318607" cy="45720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72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GCP: bytes billed, five largest jobs (TB)</a:t>
            </a:r>
          </a:p>
        </p:txBody>
      </p:sp>
      <p:sp>
        <p:nvSpPr>
          <p:cNvPr id="5" name="GCP label 1"/>
          <p:cNvSpPr txBox="1"/>
          <p:nvPr/>
        </p:nvSpPr>
        <p:spPr>
          <a:xfrm>
            <a:off x="548640" y="1965960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job-expensive</a:t>
            </a:r>
          </a:p>
        </p:txBody>
      </p:sp>
      <p:sp>
        <p:nvSpPr>
          <p:cNvPr id="6" name="GCP bar 1" descr="job-expensive 3.00 TB"/>
          <p:cNvSpPr/>
          <p:nvPr/>
        </p:nvSpPr>
        <p:spPr>
          <a:xfrm>
            <a:off x="2651760" y="2057400"/>
            <a:ext cx="1752447" cy="2743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CP value 1"/>
          <p:cNvSpPr txBox="1"/>
          <p:nvPr/>
        </p:nvSpPr>
        <p:spPr>
          <a:xfrm>
            <a:off x="4495647" y="1965960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3.00 TB</a:t>
            </a:r>
          </a:p>
        </p:txBody>
      </p:sp>
      <p:sp>
        <p:nvSpPr>
          <p:cNvPr id="8" name="GCP label 2"/>
          <p:cNvSpPr txBox="1"/>
          <p:nvPr/>
        </p:nvSpPr>
        <p:spPr>
          <a:xfrm>
            <a:off x="548640" y="2743199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job-cohort-1</a:t>
            </a:r>
          </a:p>
        </p:txBody>
      </p:sp>
      <p:sp>
        <p:nvSpPr>
          <p:cNvPr id="9" name="GCP bar 2" descr="job-cohort-1 0.40 TB"/>
          <p:cNvSpPr/>
          <p:nvPr/>
        </p:nvSpPr>
        <p:spPr>
          <a:xfrm>
            <a:off x="2651760" y="2834639"/>
            <a:ext cx="233659" cy="2743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CP value 2"/>
          <p:cNvSpPr txBox="1"/>
          <p:nvPr/>
        </p:nvSpPr>
        <p:spPr>
          <a:xfrm>
            <a:off x="4495647" y="2743199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0.40 TB</a:t>
            </a:r>
          </a:p>
        </p:txBody>
      </p:sp>
      <p:sp>
        <p:nvSpPr>
          <p:cNvPr id="11" name="GCP label 3"/>
          <p:cNvSpPr txBox="1"/>
          <p:nvPr/>
        </p:nvSpPr>
        <p:spPr>
          <a:xfrm>
            <a:off x="548640" y="3520440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job-cohort-2</a:t>
            </a:r>
          </a:p>
        </p:txBody>
      </p:sp>
      <p:sp>
        <p:nvSpPr>
          <p:cNvPr id="12" name="GCP bar 3" descr="job-cohort-2 0.40 TB"/>
          <p:cNvSpPr/>
          <p:nvPr/>
        </p:nvSpPr>
        <p:spPr>
          <a:xfrm>
            <a:off x="2651760" y="3611880"/>
            <a:ext cx="233659" cy="2743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CP value 3"/>
          <p:cNvSpPr txBox="1"/>
          <p:nvPr/>
        </p:nvSpPr>
        <p:spPr>
          <a:xfrm>
            <a:off x="4495647" y="3520440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0.40 TB</a:t>
            </a:r>
          </a:p>
        </p:txBody>
      </p:sp>
      <p:sp>
        <p:nvSpPr>
          <p:cNvPr id="14" name="GCP label 4"/>
          <p:cNvSpPr txBox="1"/>
          <p:nvPr/>
        </p:nvSpPr>
        <p:spPr>
          <a:xfrm>
            <a:off x="548640" y="4297680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job-cohort-3</a:t>
            </a:r>
          </a:p>
        </p:txBody>
      </p:sp>
      <p:sp>
        <p:nvSpPr>
          <p:cNvPr id="15" name="GCP bar 4" descr="job-cohort-3 0.40 TB"/>
          <p:cNvSpPr/>
          <p:nvPr/>
        </p:nvSpPr>
        <p:spPr>
          <a:xfrm>
            <a:off x="2651760" y="4389120"/>
            <a:ext cx="233659" cy="2743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CP value 4"/>
          <p:cNvSpPr txBox="1"/>
          <p:nvPr/>
        </p:nvSpPr>
        <p:spPr>
          <a:xfrm>
            <a:off x="4495647" y="4297680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0.40 TB</a:t>
            </a:r>
          </a:p>
        </p:txBody>
      </p:sp>
      <p:sp>
        <p:nvSpPr>
          <p:cNvPr id="17" name="GCP label 5"/>
          <p:cNvSpPr txBox="1"/>
          <p:nvPr/>
        </p:nvSpPr>
        <p:spPr>
          <a:xfrm>
            <a:off x="548640" y="5074919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job-events-scan</a:t>
            </a:r>
          </a:p>
        </p:txBody>
      </p:sp>
      <p:sp>
        <p:nvSpPr>
          <p:cNvPr id="18" name="GCP bar 5" descr="job-events-scan 0.25 TB"/>
          <p:cNvSpPr/>
          <p:nvPr/>
        </p:nvSpPr>
        <p:spPr>
          <a:xfrm>
            <a:off x="2651760" y="5166359"/>
            <a:ext cx="146037" cy="2743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CP value 5"/>
          <p:cNvSpPr txBox="1"/>
          <p:nvPr/>
        </p:nvSpPr>
        <p:spPr>
          <a:xfrm>
            <a:off x="4495647" y="5074919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0.25 TB</a:t>
            </a:r>
          </a:p>
        </p:txBody>
      </p:sp>
      <p:sp>
        <p:nvSpPr>
          <p:cNvPr id="20" name="AWS heading"/>
          <p:cNvSpPr txBox="1"/>
          <p:nvPr/>
        </p:nvSpPr>
        <p:spPr>
          <a:xfrm>
            <a:off x="6324447" y="1325880"/>
            <a:ext cx="5318607" cy="45720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72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AWS: cost vs baseline by service (USD)</a:t>
            </a:r>
          </a:p>
        </p:txBody>
      </p:sp>
      <p:sp>
        <p:nvSpPr>
          <p:cNvPr id="21" name="AWS label 1"/>
          <p:cNvSpPr txBox="1"/>
          <p:nvPr/>
        </p:nvSpPr>
        <p:spPr>
          <a:xfrm>
            <a:off x="6324447" y="1965960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Amazon Athena</a:t>
            </a:r>
          </a:p>
        </p:txBody>
      </p:sp>
      <p:sp>
        <p:nvSpPr>
          <p:cNvPr id="22" name="AWS baseline 1" descr="Amazon Athena baseline 700"/>
          <p:cNvSpPr/>
          <p:nvPr/>
        </p:nvSpPr>
        <p:spPr>
          <a:xfrm>
            <a:off x="8427567" y="2011680"/>
            <a:ext cx="876223" cy="16459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 bar 1" descr="Amazon Athena USD 1,400"/>
          <p:cNvSpPr/>
          <p:nvPr/>
        </p:nvSpPr>
        <p:spPr>
          <a:xfrm>
            <a:off x="8427567" y="2212848"/>
            <a:ext cx="1752447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WS value 1"/>
          <p:cNvSpPr txBox="1"/>
          <p:nvPr/>
        </p:nvSpPr>
        <p:spPr>
          <a:xfrm>
            <a:off x="10271454" y="1965960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USD 1,400</a:t>
            </a:r>
          </a:p>
        </p:txBody>
      </p:sp>
      <p:sp>
        <p:nvSpPr>
          <p:cNvPr id="25" name="AWS label 2"/>
          <p:cNvSpPr txBox="1"/>
          <p:nvPr/>
        </p:nvSpPr>
        <p:spPr>
          <a:xfrm>
            <a:off x="6324447" y="2743199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AWS Glue</a:t>
            </a:r>
          </a:p>
        </p:txBody>
      </p:sp>
      <p:sp>
        <p:nvSpPr>
          <p:cNvPr id="26" name="AWS baseline 2" descr="AWS Glue baseline 300"/>
          <p:cNvSpPr/>
          <p:nvPr/>
        </p:nvSpPr>
        <p:spPr>
          <a:xfrm>
            <a:off x="8427567" y="2788919"/>
            <a:ext cx="375524" cy="16459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WS bar 2" descr="AWS Glue USD 480"/>
          <p:cNvSpPr/>
          <p:nvPr/>
        </p:nvSpPr>
        <p:spPr>
          <a:xfrm>
            <a:off x="8427567" y="2990087"/>
            <a:ext cx="600838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WS value 2"/>
          <p:cNvSpPr txBox="1"/>
          <p:nvPr/>
        </p:nvSpPr>
        <p:spPr>
          <a:xfrm>
            <a:off x="10271454" y="2743199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USD 480</a:t>
            </a:r>
          </a:p>
        </p:txBody>
      </p:sp>
      <p:sp>
        <p:nvSpPr>
          <p:cNvPr id="29" name="AWS label 3"/>
          <p:cNvSpPr txBox="1"/>
          <p:nvPr/>
        </p:nvSpPr>
        <p:spPr>
          <a:xfrm>
            <a:off x="6324447" y="3520440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Amazon CloudWatch</a:t>
            </a:r>
          </a:p>
        </p:txBody>
      </p:sp>
      <p:sp>
        <p:nvSpPr>
          <p:cNvPr id="30" name="AWS baseline 3" descr="Amazon CloudWatch baseline 272"/>
          <p:cNvSpPr/>
          <p:nvPr/>
        </p:nvSpPr>
        <p:spPr>
          <a:xfrm>
            <a:off x="8427567" y="3566160"/>
            <a:ext cx="340475" cy="16459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WS bar 3" descr="Amazon CloudWatch USD 325"/>
          <p:cNvSpPr/>
          <p:nvPr/>
        </p:nvSpPr>
        <p:spPr>
          <a:xfrm>
            <a:off x="8427567" y="3767328"/>
            <a:ext cx="406430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WS value 3"/>
          <p:cNvSpPr txBox="1"/>
          <p:nvPr/>
        </p:nvSpPr>
        <p:spPr>
          <a:xfrm>
            <a:off x="10271454" y="3520440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USD 325</a:t>
            </a:r>
          </a:p>
        </p:txBody>
      </p:sp>
      <p:sp>
        <p:nvSpPr>
          <p:cNvPr id="33" name="AWS label 4"/>
          <p:cNvSpPr txBox="1"/>
          <p:nvPr/>
        </p:nvSpPr>
        <p:spPr>
          <a:xfrm>
            <a:off x="6324447" y="4297680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Amazon Redshift</a:t>
            </a:r>
          </a:p>
        </p:txBody>
      </p:sp>
      <p:sp>
        <p:nvSpPr>
          <p:cNvPr id="34" name="AWS baseline 4" descr="Amazon Redshift baseline 185"/>
          <p:cNvSpPr/>
          <p:nvPr/>
        </p:nvSpPr>
        <p:spPr>
          <a:xfrm>
            <a:off x="8427567" y="4343400"/>
            <a:ext cx="231573" cy="16459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WS bar 4" descr="Amazon Redshift USD 235"/>
          <p:cNvSpPr/>
          <p:nvPr/>
        </p:nvSpPr>
        <p:spPr>
          <a:xfrm>
            <a:off x="8427567" y="4544568"/>
            <a:ext cx="294448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WS value 4"/>
          <p:cNvSpPr txBox="1"/>
          <p:nvPr/>
        </p:nvSpPr>
        <p:spPr>
          <a:xfrm>
            <a:off x="10271454" y="4297680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USD 235</a:t>
            </a:r>
          </a:p>
        </p:txBody>
      </p:sp>
      <p:sp>
        <p:nvSpPr>
          <p:cNvPr id="37" name="AWS label 5"/>
          <p:cNvSpPr txBox="1"/>
          <p:nvPr/>
        </p:nvSpPr>
        <p:spPr>
          <a:xfrm>
            <a:off x="6324447" y="5074919"/>
            <a:ext cx="201168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0F172A"/>
                </a:solidFill>
                <a:latin typeface="Calibri"/>
              </a:rPr>
              <a:t>Amazon DynamoDB</a:t>
            </a:r>
          </a:p>
        </p:txBody>
      </p:sp>
      <p:sp>
        <p:nvSpPr>
          <p:cNvPr id="38" name="AWS baseline 5" descr="Amazon DynamoDB baseline 173"/>
          <p:cNvSpPr/>
          <p:nvPr/>
        </p:nvSpPr>
        <p:spPr>
          <a:xfrm>
            <a:off x="8427567" y="5120639"/>
            <a:ext cx="216552" cy="16459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WS bar 5" descr="Amazon DynamoDB USD 197"/>
          <p:cNvSpPr/>
          <p:nvPr/>
        </p:nvSpPr>
        <p:spPr>
          <a:xfrm>
            <a:off x="8427567" y="5321807"/>
            <a:ext cx="246544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AWS value 5"/>
          <p:cNvSpPr txBox="1"/>
          <p:nvPr/>
        </p:nvSpPr>
        <p:spPr>
          <a:xfrm>
            <a:off x="10271454" y="5074919"/>
            <a:ext cx="13716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USD 197</a:t>
            </a:r>
          </a:p>
        </p:txBody>
      </p:sp>
      <p:sp>
        <p:nvSpPr>
          <p:cNvPr id="41" name="Drivers note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475569"/>
                </a:solidFill>
                <a:latin typeface="Calibri"/>
              </a:rPr>
              <a:t>Units differ by panel and are not compared. Grey bars show the declared baseline; blue bars show the assessment period.</a:t>
            </a:r>
          </a:p>
        </p:txBody>
      </p:sp>
      <p:sp>
        <p:nvSpPr>
          <p:cNvPr id="42" name="Footer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45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Synthetic fixture data · demo-2026-09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rioritized-recommendatio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731520"/>
          </a:xfrm>
        </p:spPr>
        <p:txBody>
          <a:bodyPr lIns="45720" wrap="square" anchor="ctr">
            <a:no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Prioritized recommendations</a:t>
            </a:r>
          </a:p>
        </p:txBody>
      </p:sp>
      <p:sp>
        <p:nvSpPr>
          <p:cNvPr id="3" name="Accent"/>
          <p:cNvSpPr/>
          <p:nvPr/>
        </p:nvSpPr>
        <p:spPr>
          <a:xfrm>
            <a:off x="548640" y="1078992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32588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914400"/>
                <a:gridCol w="914400"/>
                <a:gridCol w="2743200"/>
                <a:gridCol w="475488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Next action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AWS-001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Amazon Athena / us-east-1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Explain the service and region cost increase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AWS-001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 Glue / us-east-1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Explain the service and region cost increase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job-expensive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Review query plan and filters of the largest job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job-expensive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Add a partition filter and confirm pruning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BQ-003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job-events-scan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Add a partition filter and confirm pruning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AWS-002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team=(untagged)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Attribute untagged spend to an owner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BQ-002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fp-adhoc-cohort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Evaluate materializing or caching the repeated query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fp-hourly-kpi-refresh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Align schedule frequency with source refreshes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BQ-005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res-batch-etl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Review reservation baseline against peak usage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AWS-003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redshift-reporting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Confirm owner and dependencies before resizing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CMT-001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 Glue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Collect missing evidence before any commitment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45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Synthetic fixture data · demo-2026-09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risks-and-assumptio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731520"/>
          </a:xfrm>
        </p:spPr>
        <p:txBody>
          <a:bodyPr lIns="45720" wrap="square" anchor="ctr">
            <a:no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Risks and assumptions</a:t>
            </a:r>
          </a:p>
        </p:txBody>
      </p:sp>
      <p:sp>
        <p:nvSpPr>
          <p:cNvPr id="3" name="Accent"/>
          <p:cNvSpPr/>
          <p:nvPr/>
        </p:nvSpPr>
        <p:spPr>
          <a:xfrm>
            <a:off x="548640" y="1078992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ssumptions panel"/>
          <p:cNvSpPr/>
          <p:nvPr/>
        </p:nvSpPr>
        <p:spPr>
          <a:xfrm>
            <a:off x="548640" y="1371600"/>
            <a:ext cx="5318607" cy="3657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ssumptions marker"/>
          <p:cNvSpPr/>
          <p:nvPr/>
        </p:nvSpPr>
        <p:spPr>
          <a:xfrm>
            <a:off x="548640" y="1371600"/>
            <a:ext cx="5318607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ssumptions text"/>
          <p:cNvSpPr txBox="1"/>
          <p:nvPr/>
        </p:nvSpPr>
        <p:spPr>
          <a:xfrm>
            <a:off x="777240" y="1600200"/>
            <a:ext cx="4861407" cy="329184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Assumptions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Telemetry is synthetic and generated from a fixed seed.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No pricing model is applied; estimates are upper bounds in TB, slot-hours, or USD.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Thresholds are catalog defaults and need review for a real workload.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Resource utilization and commitment data are optional telemetry and were approved in the fixture scope.</a:t>
            </a:r>
          </a:p>
        </p:txBody>
      </p:sp>
      <p:sp>
        <p:nvSpPr>
          <p:cNvPr id="7" name="Risks before acting panel"/>
          <p:cNvSpPr/>
          <p:nvPr/>
        </p:nvSpPr>
        <p:spPr>
          <a:xfrm>
            <a:off x="6324447" y="1371600"/>
            <a:ext cx="5318607" cy="3657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sks before acting marker"/>
          <p:cNvSpPr/>
          <p:nvPr/>
        </p:nvSpPr>
        <p:spPr>
          <a:xfrm>
            <a:off x="6324447" y="1371600"/>
            <a:ext cx="5318607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sks before acting text"/>
          <p:cNvSpPr txBox="1"/>
          <p:nvPr/>
        </p:nvSpPr>
        <p:spPr>
          <a:xfrm>
            <a:off x="6553047" y="1600200"/>
            <a:ext cx="4861407" cy="329184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Risks before acting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Acting on an upper bound can overstate the benefit of a change.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Reducing reservation baselines can slow peak workloads; review peak slot usage first.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Retiring an underutilized resource can break an undocumented dependency.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Buying a commitment on incomplete history can lock in unused spend.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45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Synthetic fixture data · demo-2026-09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evidence-append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731520"/>
          </a:xfrm>
        </p:spPr>
        <p:txBody>
          <a:bodyPr lIns="45720" wrap="square" anchor="ctr">
            <a:no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Evidence appendix (1 of 2)</a:t>
            </a:r>
          </a:p>
        </p:txBody>
      </p:sp>
      <p:sp>
        <p:nvSpPr>
          <p:cNvPr id="3" name="Accent"/>
          <p:cNvSpPr/>
          <p:nvPr/>
        </p:nvSpPr>
        <p:spPr>
          <a:xfrm>
            <a:off x="548640" y="1078992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32588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1737360"/>
                <a:gridCol w="338328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Evidence source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Observed metric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73152" marR="73152" marT="36576" marB="36576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AWS-001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Amazon Athena / us-east-1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aws.costs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USD 1,400 vs USD 700 baseline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Not estimated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AWS-001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 Glue / us-east-1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aws.costs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USD 480 vs USD 300 baseline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Not estimated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job-expensive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gcp.jobs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3.00 TB billed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Not estimated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job-expensive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gcp.jobs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3.00 TB billed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Not estimated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BQ-003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job-events-scan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gcp.jobs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0.25 TB billed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Not estimated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AWS-002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team=(untagged)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aws.tag_costs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USD 650 vs USD 300 baseline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Not estimated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BQ-002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fp-adhoc-cohort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gcp.jobs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3 runs, 0.8 TB repeated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0.8 TB (upper bound)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fp-hourly-kpi-refresh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gcp.schedules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6 runs/day; source changes 1/day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7.5 TB per 30 days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BQ-005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res-batch-etl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gcp.reservations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18% of 500 slots used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295,200 idle slot-hours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AWS-003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redshift-reporting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aws.resources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4% utilization over 30 days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USD 2,112 per month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CMT-001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 Glue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aws.commitments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CV 0.02, coverage 0%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Not estimated</a:t>
                      </a:r>
                    </a:p>
                  </a:txBody>
                  <a:tcPr marL="73152" marR="73152" marT="36576" marB="36576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45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Synthetic fixture data · demo-2026-09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evidence-append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731520"/>
          </a:xfrm>
        </p:spPr>
        <p:txBody>
          <a:bodyPr lIns="45720" wrap="square" anchor="ctr">
            <a:no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Evidence appendix (2 of 2)</a:t>
            </a:r>
          </a:p>
        </p:txBody>
      </p:sp>
      <p:sp>
        <p:nvSpPr>
          <p:cNvPr id="3" name="Accent"/>
          <p:cNvSpPr/>
          <p:nvPr/>
        </p:nvSpPr>
        <p:spPr>
          <a:xfrm>
            <a:off x="548640" y="1078992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production"/>
          <p:cNvSpPr txBox="1"/>
          <p:nvPr/>
        </p:nvSpPr>
        <p:spPr>
          <a:xfrm>
            <a:off x="548640" y="1417320"/>
            <a:ext cx="11094415" cy="438912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Every number in this deck comes from findings.json and the synthetic fixture.</a:t>
            </a:r>
          </a:p>
          <a:p>
            <a:pPr>
              <a:spcAft>
                <a:spcPts val="585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findings.json SHA-256: e4ca61ca9a634f52c2fcde3dc20538e0879a59d15bede9601869f7cdbc8c014f</a:t>
            </a:r>
          </a:p>
          <a:p>
            <a:pPr>
              <a:spcAft>
                <a:spcPts val="630"/>
              </a:spcAft>
            </a:pPr>
            <a:r>
              <a:rPr sz="1400" b="0">
                <a:solidFill>
                  <a:srgbClr val="0F172A"/>
                </a:solidFill>
                <a:latin typeface="Calibri"/>
              </a:rPr>
              <a:t>Generator: cloud_data_finops.synthetic, seed 20260901</a:t>
            </a:r>
          </a:p>
          <a:p>
            <a:pPr>
              <a:spcAft>
                <a:spcPts val="630"/>
              </a:spcAft>
            </a:pPr>
            <a:r>
              <a:rPr sz="1400" b="0">
                <a:solidFill>
                  <a:srgbClr val="0F172A"/>
                </a:solidFill>
                <a:latin typeface="Calibri"/>
              </a:rPr>
              <a:t>Reproduce: make reproduce (see docs/reproduce.md for expected checksums)</a:t>
            </a:r>
          </a:p>
          <a:p>
            <a:pPr>
              <a:spcAft>
                <a:spcPts val="630"/>
              </a:spcAft>
            </a:pPr>
            <a:r>
              <a:rPr sz="1400" b="0">
                <a:solidFill>
                  <a:srgbClr val="0F172A"/>
                </a:solidFill>
                <a:latin typeface="Calibri"/>
              </a:rPr>
              <a:t>Full per-finding evidence, formulas, units, and assumptions: report.md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>
              <a:spcAft>
                <a:spcPts val="45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Synthetic fixture data · demo-2026-09 ·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cloud data FinOps assessment</dc:title>
  <dc:subject>Assessment demo-2026-09 (synthetic fixture data)</dc:subject>
  <dc:creator>cloud-data-finops-sdd-toolkit</dc:creator>
  <cp:keywords>FinOps; GCP; AWS; synthetic</cp:keywords>
  <dc:description>Generated from findings.json by cloud_data_finops.presentations.</dc:description>
  <cp:lastModifiedBy>cloud-data-finops-sdd-toolkit</cp:lastModifiedBy>
  <cp:revision>1</cp:revision>
  <dcterms:created xsi:type="dcterms:W3CDTF">2026-08-31T00:00:00Z</dcterms:created>
  <dcterms:modified xsi:type="dcterms:W3CDTF">2026-08-31T00:00:00Z</dcterms:modified>
  <cp:category/>
  <cp:lastPrinted>2026-08-31T00:00:00Z</cp:lastPrinted>
</cp:coreProperties>
</file>